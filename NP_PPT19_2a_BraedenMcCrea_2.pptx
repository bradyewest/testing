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png" ContentType="image/png"/>
  <Default Extension="mp4" ContentType="video/mp4"/>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65"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E" initials="CE" lastIdx="1" clrIdx="0">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4" autoAdjust="0"/>
    <p:restoredTop sz="94660"/>
  </p:normalViewPr>
  <p:slideViewPr>
    <p:cSldViewPr snapToGrid="0">
      <p:cViewPr varScale="1">
        <p:scale>
          <a:sx n="69" d="100"/>
          <a:sy n="69" d="100"/>
        </p:scale>
        <p:origin x="84" y="822"/>
      </p:cViewPr>
      <p:guideLst/>
    </p:cSldViewPr>
  </p:slideViewPr>
  <p:notesTextViewPr>
    <p:cViewPr>
      <p:scale>
        <a:sx n="1" d="1"/>
        <a:sy n="1" d="1"/>
      </p:scale>
      <p:origin x="0" y="0"/>
    </p:cViewPr>
  </p:notesTextViewPr>
  <p:sorterViewPr>
    <p:cViewPr>
      <p:scale>
        <a:sx n="100" d="100"/>
        <a:sy n="100" d="100"/>
      </p:scale>
      <p:origin x="0" y="-984"/>
    </p:cViewPr>
  </p:sorterViewPr>
  <p:gridSpacing cx="76200" cy="76200"/>
</p:viewPr>
</file>

<file path=ppt/_rels/presentation.xml.rels>&#65279;<?xml version="1.0" encoding="utf-8" standalone="yes"?>
<Relationships xmlns="http://schemas.openxmlformats.org/package/2006/relationships">
  <Relationship Id="rId8" Type="http://schemas.openxmlformats.org/officeDocument/2006/relationships/slide" Target="slides/slide7.xml" />
  <Relationship Id="rId13" Type="http://schemas.openxmlformats.org/officeDocument/2006/relationships/presProps" Target="presProps.xml" />
  <Relationship Id="rId3" Type="http://schemas.openxmlformats.org/officeDocument/2006/relationships/slide" Target="slides/slide2.xml" />
  <Relationship Id="rId7" Type="http://schemas.openxmlformats.org/officeDocument/2006/relationships/slide" Target="slides/slide6.xml" />
  <Relationship Id="rId12" Type="http://schemas.openxmlformats.org/officeDocument/2006/relationships/commentAuthors" Target="commentAuthors.xml" />
  <Relationship Id="rId2" Type="http://schemas.openxmlformats.org/officeDocument/2006/relationships/slide" Target="slides/slide1.xml" />
  <Relationship Id="rId16" Type="http://schemas.openxmlformats.org/officeDocument/2006/relationships/tableStyles" Target="tableStyles.xml" />
  <Relationship Id="rId1" Type="http://schemas.openxmlformats.org/officeDocument/2006/relationships/slideMaster" Target="slideMasters/slideMaster1.xml" />
  <Relationship Id="rId6" Type="http://schemas.openxmlformats.org/officeDocument/2006/relationships/slide" Target="slides/slide5.xml" />
  <Relationship Id="rId11" Type="http://schemas.openxmlformats.org/officeDocument/2006/relationships/notesMaster" Target="notesMasters/notesMaster1.xml" />
  <Relationship Id="rId5" Type="http://schemas.openxmlformats.org/officeDocument/2006/relationships/slide" Target="slides/slide4.xml" />
  <Relationship Id="rId15" Type="http://schemas.openxmlformats.org/officeDocument/2006/relationships/theme" Target="theme/theme1.xml" />
  <Relationship Id="rId10" Type="http://schemas.openxmlformats.org/officeDocument/2006/relationships/slide" Target="slides/slide9.xml" />
  <Relationship Id="rId4" Type="http://schemas.openxmlformats.org/officeDocument/2006/relationships/slide" Target="slides/slide3.xml" />
  <Relationship Id="rId9" Type="http://schemas.openxmlformats.org/officeDocument/2006/relationships/slide" Target="slides/slide8.xml" />
  <Relationship Id="rId14" Type="http://schemas.openxmlformats.org/officeDocument/2006/relationships/viewProps" Target="viewProps.xml" />
  <Relationship Id="rId17" Type="http://schemas.openxmlformats.org/officeDocument/2006/relationships/customXml" Target="../customXml/item1.xml" />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AF605E-FD5F-4AA7-A75A-50252E819AC0}" type="datetimeFigureOut">
              <a:rPr lang="en-US" smtClean="0"/>
              <a:t>7/16/2018</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FB9E63-848F-498C-B766-39D698614805}" type="slidenum">
              <a:rPr lang="en-US" smtClean="0"/>
              <a:t>‹#›</a:t>
            </a:fld>
            <a:endParaRPr lang="en-US" dirty="0"/>
          </a:p>
        </p:txBody>
      </p:sp>
    </p:spTree>
    <p:extLst>
      <p:ext uri="{BB962C8B-B14F-4D97-AF65-F5344CB8AC3E}">
        <p14:creationId xmlns:p14="http://schemas.microsoft.com/office/powerpoint/2010/main" val="1429322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file created specifically for Braeden McCrea</a:t>
            </a:r>
          </a:p>
        </p:txBody>
      </p:sp>
      <p:sp>
        <p:nvSpPr>
          <p:cNvPr id="4" name="Slide Number Placeholder 3"/>
          <p:cNvSpPr>
            <a:spLocks noGrp="1"/>
          </p:cNvSpPr>
          <p:nvPr>
            <p:ph type="sldNum" sz="quarter" idx="10"/>
          </p:nvPr>
        </p:nvSpPr>
        <p:spPr/>
        <p:txBody>
          <a:bodyPr/>
          <a:lstStyle/>
          <a:p>
            <a:fld id="{21FB9E63-848F-498C-B766-39D698614805}" type="slidenum">
              <a:rPr lang="en-US" smtClean="0"/>
              <a:t>1</a:t>
            </a:fld>
            <a:endParaRPr lang="en-US" dirty="0"/>
          </a:p>
        </p:txBody>
      </p:sp>
    </p:spTree>
    <p:extLst>
      <p:ext uri="{BB962C8B-B14F-4D97-AF65-F5344CB8AC3E}">
        <p14:creationId xmlns:p14="http://schemas.microsoft.com/office/powerpoint/2010/main" val="21365366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26225" y="1828800"/>
            <a:ext cx="4098175" cy="3177380"/>
          </a:xfrm>
        </p:spPr>
        <p:txBody>
          <a:bodyPr anchor="b">
            <a:normAutofit/>
          </a:bodyPr>
          <a:lstStyle>
            <a:lvl1pPr algn="l">
              <a:lnSpc>
                <a:spcPct val="80000"/>
              </a:lnSpc>
              <a:defRPr sz="5400">
                <a:solidFill>
                  <a:schemeClr val="accent1"/>
                </a:solidFill>
              </a:defRPr>
            </a:lvl1pPr>
          </a:lstStyle>
          <a:p>
            <a:r>
              <a:rPr lang="en-US" smtClean="0"/>
              <a:t>Click to edit Master title style</a:t>
            </a:r>
            <a:endParaRPr/>
          </a:p>
        </p:txBody>
      </p:sp>
      <p:sp>
        <p:nvSpPr>
          <p:cNvPr id="3" name="Subtitle 2"/>
          <p:cNvSpPr>
            <a:spLocks noGrp="1"/>
          </p:cNvSpPr>
          <p:nvPr>
            <p:ph type="subTitle" idx="1"/>
          </p:nvPr>
        </p:nvSpPr>
        <p:spPr>
          <a:xfrm>
            <a:off x="626225" y="5181600"/>
            <a:ext cx="4098175" cy="685800"/>
          </a:xfrm>
        </p:spPr>
        <p:txBody>
          <a:bodyPr>
            <a:normAutofit/>
          </a:bodyPr>
          <a:lstStyle>
            <a:lvl1pPr marL="0" indent="0" algn="l">
              <a:buNone/>
              <a:defRPr sz="2000" cap="all" baseline="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188688" y="-1"/>
            <a:ext cx="7000137"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extLst mod="1">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5/13/2018</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265112" y="228600"/>
            <a:ext cx="1165860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066800" y="1828800"/>
            <a:ext cx="7772400" cy="3177380"/>
          </a:xfrm>
        </p:spPr>
        <p:txBody>
          <a:bodyPr anchor="b">
            <a:normAutofit/>
          </a:bodyPr>
          <a:lstStyle>
            <a:lvl1pPr>
              <a:lnSpc>
                <a:spcPct val="80000"/>
              </a:lnSpc>
              <a:defRPr sz="5400"/>
            </a:lvl1pPr>
          </a:lstStyle>
          <a:p>
            <a:r>
              <a:rPr lang="en-US" smtClean="0"/>
              <a:t>Click to edit Master title style</a:t>
            </a:r>
            <a:endParaRPr/>
          </a:p>
        </p:txBody>
      </p:sp>
      <p:sp>
        <p:nvSpPr>
          <p:cNvPr id="3" name="Text Placeholder 2"/>
          <p:cNvSpPr>
            <a:spLocks noGrp="1"/>
          </p:cNvSpPr>
          <p:nvPr>
            <p:ph type="body" idx="1"/>
          </p:nvPr>
        </p:nvSpPr>
        <p:spPr>
          <a:xfrm>
            <a:off x="1066800" y="5181600"/>
            <a:ext cx="7772400" cy="685800"/>
          </a:xfrm>
        </p:spPr>
        <p:txBody>
          <a:bodyPr>
            <a:normAutofit/>
          </a:bodyPr>
          <a:lstStyle>
            <a:lvl1pPr marL="0" indent="0">
              <a:buNone/>
              <a:defRPr sz="2000" cap="all" baseline="0">
                <a:solidFill>
                  <a:schemeClr val="bg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0668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324600" y="1825624"/>
            <a:ext cx="4800600" cy="457517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37CC0096-1860-4642-9CD2-0079EA5E7CD1}" type="datetimeFigureOut">
              <a:rPr lang="en-US"/>
              <a:t>5/13/2018</a:t>
            </a:fld>
            <a:endParaRPr/>
          </a:p>
        </p:txBody>
      </p:sp>
      <p:sp>
        <p:nvSpPr>
          <p:cNvPr id="7" name="Slide Number Placeholder 6"/>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Text Placeholder 2"/>
          <p:cNvSpPr>
            <a:spLocks noGrp="1"/>
          </p:cNvSpPr>
          <p:nvPr>
            <p:ph type="body" idx="1"/>
          </p:nvPr>
        </p:nvSpPr>
        <p:spPr>
          <a:xfrm>
            <a:off x="10668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68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324600" y="1828799"/>
            <a:ext cx="4800600" cy="762000"/>
          </a:xfrm>
        </p:spPr>
        <p:txBody>
          <a:bodyPr anchor="ctr">
            <a:noAutofit/>
          </a:bodyPr>
          <a:lstStyle>
            <a:lvl1pPr marL="0" indent="0">
              <a:buNone/>
              <a:defRPr sz="2400" b="0" cap="none" baseline="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24600" y="2590799"/>
            <a:ext cx="4800600" cy="381003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37CC0096-1860-4642-9CD2-0079EA5E7CD1}" type="datetimeFigureOut">
              <a:rPr lang="en-US"/>
              <a:t>5/13/2018</a:t>
            </a:fld>
            <a:endParaRPr/>
          </a:p>
        </p:txBody>
      </p:sp>
      <p:sp>
        <p:nvSpPr>
          <p:cNvPr id="9" name="Slide Number Placeholder 8"/>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37CC0096-1860-4642-9CD2-0079EA5E7CD1}" type="datetimeFigureOut">
              <a:rPr lang="en-US"/>
              <a:t>5/13/2018</a:t>
            </a:fld>
            <a:endParaRPr/>
          </a:p>
        </p:txBody>
      </p:sp>
      <p:sp>
        <p:nvSpPr>
          <p:cNvPr id="5" name="Slide Number Placeholder 4"/>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37CC0096-1860-4642-9CD2-0079EA5E7CD1}" type="datetimeFigureOut">
              <a:rPr lang="en-US"/>
              <a:t>5/13/2018</a:t>
            </a:fld>
            <a:endParaRPr/>
          </a:p>
        </p:txBody>
      </p:sp>
      <p:sp>
        <p:nvSpPr>
          <p:cNvPr id="4" name="Slide Number Placeholder 3"/>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2700" y="3200400"/>
            <a:ext cx="3932237" cy="1752600"/>
          </a:xfrm>
        </p:spPr>
        <p:txBody>
          <a:bodyPr anchor="b">
            <a:normAutofit/>
          </a:bodyPr>
          <a:lstStyle>
            <a:lvl1pPr>
              <a:defRPr sz="3600"/>
            </a:lvl1pPr>
          </a:lstStyle>
          <a:p>
            <a:r>
              <a:rPr lang="en-US" smtClean="0"/>
              <a:t>Click to edit Master title style</a:t>
            </a:r>
            <a:endParaRPr/>
          </a:p>
        </p:txBody>
      </p:sp>
      <p:sp>
        <p:nvSpPr>
          <p:cNvPr id="3" name="Content Placeholder 2"/>
          <p:cNvSpPr>
            <a:spLocks noGrp="1"/>
          </p:cNvSpPr>
          <p:nvPr>
            <p:ph idx="1"/>
          </p:nvPr>
        </p:nvSpPr>
        <p:spPr>
          <a:xfrm>
            <a:off x="609600" y="457201"/>
            <a:ext cx="5943600" cy="5943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7632699" y="5029200"/>
            <a:ext cx="3932237" cy="1371600"/>
          </a:xfrm>
        </p:spPr>
        <p:txBody>
          <a:bodyPr>
            <a:normAutofit/>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7008812" y="0"/>
            <a:ext cx="5180013"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descr="Rectangle"/>
          <p:cNvSpPr/>
          <p:nvPr/>
        </p:nvSpPr>
        <p:spPr>
          <a:xfrm>
            <a:off x="7255668" y="228600"/>
            <a:ext cx="4686300"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7635240" y="3200400"/>
            <a:ext cx="3932237" cy="1752600"/>
          </a:xfrm>
        </p:spPr>
        <p:txBody>
          <a:bodyPr anchor="b">
            <a:normAutofit/>
          </a:bodyPr>
          <a:lstStyle>
            <a:lvl1pPr>
              <a:defRPr sz="3600"/>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 y="0"/>
            <a:ext cx="7008810" cy="6857999"/>
          </a:xfrm>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dirty="0"/>
          </a:p>
        </p:txBody>
      </p:sp>
      <p:sp>
        <p:nvSpPr>
          <p:cNvPr id="4" name="Text Placeholder 3"/>
          <p:cNvSpPr>
            <a:spLocks noGrp="1"/>
          </p:cNvSpPr>
          <p:nvPr>
            <p:ph type="body" sz="half" idx="2"/>
          </p:nvPr>
        </p:nvSpPr>
        <p:spPr>
          <a:xfrm>
            <a:off x="7635240" y="5029200"/>
            <a:ext cx="3932237" cy="137464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5/13/2018</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9982200" y="0"/>
            <a:ext cx="220980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058399" y="457201"/>
            <a:ext cx="2057401" cy="5943600"/>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609600" y="457200"/>
            <a:ext cx="9067800" cy="594359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37CC0096-1860-4642-9CD2-0079EA5E7CD1}" type="datetimeFigureOut">
              <a:rPr lang="en-US"/>
              <a:t>5/13/2018</a:t>
            </a:fld>
            <a:endParaRPr/>
          </a:p>
        </p:txBody>
      </p:sp>
      <p:sp>
        <p:nvSpPr>
          <p:cNvPr id="6" name="Slide Number Placeholder 5"/>
          <p:cNvSpPr>
            <a:spLocks noGrp="1"/>
          </p:cNvSpPr>
          <p:nvPr>
            <p:ph type="sldNum" sz="quarter" idx="12"/>
          </p:nvPr>
        </p:nvSpPr>
        <p:spPr/>
        <p:txBody>
          <a:bodyPr/>
          <a:lstStyle/>
          <a:p>
            <a:fld id="{E31375A4-56A4-47D6-9801-1991572033F7}" type="slidenum">
              <a:rPr/>
              <a:t>‹#›</a:t>
            </a:fld>
            <a:endParaRPr/>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12188824"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a:xfrm>
            <a:off x="1066800" y="99220"/>
            <a:ext cx="10058400" cy="1325563"/>
          </a:xfrm>
          <a:prstGeom prst="rect">
            <a:avLst/>
          </a:prstGeom>
        </p:spPr>
        <p:txBody>
          <a:bodyPr vert="horz" lIns="91440" tIns="45720" rIns="91440" bIns="45720" rtlCol="0" anchor="ctr">
            <a:normAutofit/>
          </a:bodyPr>
          <a:lstStyle/>
          <a:p>
            <a:r>
              <a:rPr lang="en-US" smtClean="0"/>
              <a:t>Click to edit Master title style</a:t>
            </a:r>
            <a:endParaRPr dirty="0"/>
          </a:p>
        </p:txBody>
      </p:sp>
      <p:sp>
        <p:nvSpPr>
          <p:cNvPr id="3" name="Text Placeholder 2"/>
          <p:cNvSpPr>
            <a:spLocks noGrp="1"/>
          </p:cNvSpPr>
          <p:nvPr>
            <p:ph type="body" idx="1"/>
          </p:nvPr>
        </p:nvSpPr>
        <p:spPr>
          <a:xfrm>
            <a:off x="1524000" y="1828799"/>
            <a:ext cx="9144000" cy="457200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Footer Placeholder 4"/>
          <p:cNvSpPr>
            <a:spLocks noGrp="1"/>
          </p:cNvSpPr>
          <p:nvPr>
            <p:ph type="ftr" sz="quarter" idx="3"/>
          </p:nvPr>
        </p:nvSpPr>
        <p:spPr>
          <a:xfrm>
            <a:off x="1066800" y="6481760"/>
            <a:ext cx="7848600" cy="239715"/>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9067800" y="6465885"/>
            <a:ext cx="1066800" cy="239715"/>
          </a:xfrm>
          <a:prstGeom prst="rect">
            <a:avLst/>
          </a:prstGeom>
        </p:spPr>
        <p:txBody>
          <a:bodyPr vert="horz" lIns="91440" tIns="45720" rIns="91440" bIns="45720" rtlCol="0" anchor="ctr"/>
          <a:lstStyle>
            <a:lvl1pPr algn="r">
              <a:defRPr sz="1100">
                <a:solidFill>
                  <a:schemeClr val="tx1"/>
                </a:solidFill>
              </a:defRPr>
            </a:lvl1pPr>
          </a:lstStyle>
          <a:p>
            <a:fld id="{37CC0096-1860-4642-9CD2-0079EA5E7CD1}" type="datetimeFigureOut">
              <a:rPr lang="en-US" smtClean="0"/>
              <a:pPr/>
              <a:t>5/13/2018</a:t>
            </a:fld>
            <a:endParaRPr lang="en-US" dirty="0"/>
          </a:p>
        </p:txBody>
      </p:sp>
      <p:sp>
        <p:nvSpPr>
          <p:cNvPr id="6" name="Slide Number Placeholder 5"/>
          <p:cNvSpPr>
            <a:spLocks noGrp="1"/>
          </p:cNvSpPr>
          <p:nvPr>
            <p:ph type="sldNum" sz="quarter" idx="4"/>
          </p:nvPr>
        </p:nvSpPr>
        <p:spPr>
          <a:xfrm>
            <a:off x="10287000" y="6481760"/>
            <a:ext cx="838200" cy="239715"/>
          </a:xfrm>
          <a:prstGeom prst="rect">
            <a:avLst/>
          </a:prstGeom>
        </p:spPr>
        <p:txBody>
          <a:bodyPr vert="horz" lIns="91440" tIns="45720" rIns="91440" bIns="45720" rtlCol="0" anchor="ctr"/>
          <a:lstStyle>
            <a:lvl1pPr algn="r">
              <a:defRPr sz="1100">
                <a:solidFill>
                  <a:schemeClr val="tx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0"/>
    </mc:Choice>
    <mc:Fallback>
      <p:transition/>
    </mc:Fallback>
  </mc:AlternateContent>
  <p:txStyles>
    <p:titleStyle>
      <a:lvl1pPr algn="l" defTabSz="914400" rtl="0" eaLnBrk="1" latinLnBrk="0" hangingPunct="1">
        <a:lnSpc>
          <a:spcPct val="90000"/>
        </a:lnSpc>
        <a:spcBef>
          <a:spcPct val="0"/>
        </a:spcBef>
        <a:buNone/>
        <a:defRPr sz="36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400" kern="1200">
          <a:solidFill>
            <a:schemeClr val="tx1">
              <a:lumMod val="75000"/>
              <a:lumOff val="25000"/>
            </a:schemeClr>
          </a:solidFill>
          <a:latin typeface="+mn-lt"/>
          <a:ea typeface="+mn-ea"/>
          <a:cs typeface="+mn-cs"/>
        </a:defRPr>
      </a:lvl1pPr>
      <a:lvl2pPr marL="457200" indent="-228600" algn="l" defTabSz="914400" rtl="0" eaLnBrk="1" latinLnBrk="0" hangingPunct="1">
        <a:lnSpc>
          <a:spcPct val="90000"/>
        </a:lnSpc>
        <a:spcBef>
          <a:spcPts val="600"/>
        </a:spcBef>
        <a:buSzPct val="100000"/>
        <a:buFont typeface="Arial" pitchFamily="34" charset="0"/>
        <a:buChar char="▪"/>
        <a:defRPr sz="2200" kern="1200">
          <a:solidFill>
            <a:schemeClr val="tx1">
              <a:lumMod val="75000"/>
              <a:lumOff val="25000"/>
            </a:schemeClr>
          </a:solidFill>
          <a:latin typeface="+mn-lt"/>
          <a:ea typeface="+mn-ea"/>
          <a:cs typeface="+mn-cs"/>
        </a:defRPr>
      </a:lvl2pPr>
      <a:lvl3pPr marL="685800" indent="-182880" algn="l" defTabSz="914400" rtl="0" eaLnBrk="1" latinLnBrk="0" hangingPunct="1">
        <a:lnSpc>
          <a:spcPct val="90000"/>
        </a:lnSpc>
        <a:spcBef>
          <a:spcPts val="600"/>
        </a:spcBef>
        <a:buSzPct val="100000"/>
        <a:buFont typeface="Arial" pitchFamily="34" charset="0"/>
        <a:buChar char="▪"/>
        <a:defRPr sz="2000" kern="1200">
          <a:solidFill>
            <a:schemeClr val="tx1">
              <a:lumMod val="75000"/>
              <a:lumOff val="25000"/>
            </a:schemeClr>
          </a:solidFill>
          <a:latin typeface="+mn-lt"/>
          <a:ea typeface="+mn-ea"/>
          <a:cs typeface="+mn-cs"/>
        </a:defRPr>
      </a:lvl3pPr>
      <a:lvl4pPr marL="868680" indent="-182563" algn="l" defTabSz="914400" rtl="0" eaLnBrk="1" latinLnBrk="0" hangingPunct="1">
        <a:lnSpc>
          <a:spcPct val="90000"/>
        </a:lnSpc>
        <a:spcBef>
          <a:spcPts val="600"/>
        </a:spcBef>
        <a:buSzPct val="100000"/>
        <a:buFont typeface="Arial" pitchFamily="34" charset="0"/>
        <a:buChar char="▪"/>
        <a:defRPr sz="1800" kern="1200">
          <a:solidFill>
            <a:schemeClr val="tx1">
              <a:lumMod val="75000"/>
              <a:lumOff val="25000"/>
            </a:schemeClr>
          </a:solidFill>
          <a:latin typeface="+mn-lt"/>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600" kern="1200">
          <a:solidFill>
            <a:schemeClr val="tx1">
              <a:lumMod val="75000"/>
              <a:lumOff val="25000"/>
            </a:schemeClr>
          </a:solidFill>
          <a:latin typeface="+mn-lt"/>
          <a:ea typeface="+mn-ea"/>
          <a:cs typeface="+mn-cs"/>
        </a:defRPr>
      </a:lvl5pPr>
      <a:lvl6pPr marL="123444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6pPr>
      <a:lvl7pPr marL="141732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7pPr>
      <a:lvl8pPr marL="160020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8pPr>
      <a:lvl9pPr marL="1783080" indent="-182880" algn="l" defTabSz="914400" rtl="0" eaLnBrk="1" latinLnBrk="0" hangingPunct="1">
        <a:lnSpc>
          <a:spcPct val="90000"/>
        </a:lnSpc>
        <a:spcBef>
          <a:spcPts val="400"/>
        </a:spcBef>
        <a:buSzPct val="100000"/>
        <a:buFont typeface="Arial" pitchFamily="34" charset="0"/>
        <a:buChar char="▪"/>
        <a:defRPr sz="1600" kern="120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Title 1                                                                                                                                                                                                                                                                                 |XCFicdb88EK18Ycfo4vtng==|2393"/>
          <p:cNvSpPr>
            <a:spLocks noGrp="1"/>
          </p:cNvSpPr>
          <p:nvPr>
            <p:ph type="ctrTitle"/>
          </p:nvPr>
        </p:nvSpPr>
        <p:spPr/>
        <p:txBody>
          <a:bodyPr/>
          <a:lstStyle/>
          <a:p>
            <a:r>
              <a:rPr lang="en-US" dirty="0"/>
              <a:t>Lifeline Medical Services</a:t>
            </a:r>
          </a:p>
        </p:txBody>
      </p:sp>
      <p:sp>
        <p:nvSpPr>
          <p:cNvPr id="3" name="Subtitle 2                                                                                                                                                                                                                                                                                 |XCFicdb88EK18Ycfo4vtng==|2393"/>
          <p:cNvSpPr>
            <a:spLocks noGrp="1"/>
          </p:cNvSpPr>
          <p:nvPr>
            <p:ph type="subTitle" idx="1"/>
          </p:nvPr>
        </p:nvSpPr>
        <p:spPr/>
        <p:txBody>
          <a:bodyPr/>
          <a:lstStyle/>
          <a:p>
            <a:r>
              <a:rPr lang="en-US" dirty="0"/>
              <a:t>Medical Services Call Button</a:t>
            </a:r>
          </a:p>
        </p:txBody>
      </p:sp>
    </p:spTree>
    <p:extLst>
      <p:ext uri="{BB962C8B-B14F-4D97-AF65-F5344CB8AC3E}">
        <p14:creationId xmlns:p14="http://schemas.microsoft.com/office/powerpoint/2010/main" val="329502496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4" name="Title 3                                                                                                                                                                                                                                                                                 |XCFicdb88EK18Ycfo4vtng==|2393"/>
          <p:cNvSpPr>
            <a:spLocks noGrp="1"/>
          </p:cNvSpPr>
          <p:nvPr>
            <p:ph type="title"/>
          </p:nvPr>
        </p:nvSpPr>
        <p:spPr/>
        <p:txBody>
          <a:bodyPr/>
          <a:lstStyle/>
          <a:p>
            <a:r>
              <a:rPr lang="en-US" dirty="0"/>
              <a:t>All about Lifeline Medical Services</a:t>
            </a:r>
          </a:p>
        </p:txBody>
      </p:sp>
      <p:pic>
        <p:nvPicPr>
          <p:cNvPr id="7" name="Content Placeholder 4" descr="Nurses"/>
          <p:cNvPicPr>
            <a:picLocks noGrp="1" noChangeAspect="1"/>
          </p:cNvPicPr>
          <p:nvPr>
            <p:ph sz="half" idx="1"/>
          </p:nvPr>
        </p:nvPicPr>
        <p:blipFill>
          <a:blip r:embed="rId2"/>
          <a:stretch>
            <a:fillRect/>
          </a:stretch>
        </p:blipFill>
        <p:spPr>
          <a:xfrm>
            <a:off x="1066800" y="2511749"/>
            <a:ext cx="4800600" cy="3202924"/>
          </a:xfrm>
        </p:spPr>
      </p:pic>
      <p:sp>
        <p:nvSpPr>
          <p:cNvPr id="6" name="Content Placeholder 5                                                                                                                                                                                                                                                                                 |XCFicdb88EK18Ycfo4vtng==|2393"/>
          <p:cNvSpPr>
            <a:spLocks noGrp="1"/>
          </p:cNvSpPr>
          <p:nvPr>
            <p:ph sz="half" idx="2"/>
          </p:nvPr>
        </p:nvSpPr>
        <p:spPr/>
        <p:txBody>
          <a:bodyPr/>
          <a:lstStyle/>
          <a:p>
            <a:r>
              <a:rPr lang="en-US" dirty="0"/>
              <a:t>Family-owned local company</a:t>
            </a:r>
          </a:p>
          <a:p>
            <a:r>
              <a:rPr lang="en-US" dirty="0"/>
              <a:t>Partnered with Hartford Hospital</a:t>
            </a:r>
          </a:p>
          <a:p>
            <a:r>
              <a:rPr lang="en-US" dirty="0"/>
              <a:t>Partnered with Hartford EMS</a:t>
            </a:r>
          </a:p>
          <a:p>
            <a:r>
              <a:rPr lang="en-US" dirty="0"/>
              <a:t>Staffed 24/7 by registered nurses</a:t>
            </a:r>
          </a:p>
          <a:p>
            <a:r>
              <a:rPr lang="en-US" dirty="0"/>
              <a:t>Emergency doctor always on call</a:t>
            </a:r>
          </a:p>
          <a:p>
            <a:endParaRPr lang="en-US" dirty="0"/>
          </a:p>
        </p:txBody>
      </p:sp>
      <p:sp>
        <p:nvSpPr>
          <p:cNvPr id="20" name="Date Placeholder 19"/>
          <p:cNvSpPr>
            <a:spLocks noGrp="1"/>
          </p:cNvSpPr>
          <p:nvPr>
            <p:ph type="dt" sz="half" idx="10"/>
          </p:nvPr>
        </p:nvSpPr>
        <p:spPr/>
        <p:txBody>
          <a:bodyPr/>
          <a:lstStyle/>
          <a:p>
            <a:fld id="{87C5E4AA-B42B-43B4-9314-F26E32E97B8E}" type="datetime1">
              <a:rPr lang="en-US"/>
              <a:t>10/13/2026</a:t>
            </a:fld>
            <a:endParaRPr lang="en-US" dirty="0"/>
          </a:p>
        </p:txBody>
      </p:sp>
      <p:sp>
        <p:nvSpPr>
          <p:cNvPr id="21" name="Footer Placeholder 20"/>
          <p:cNvSpPr>
            <a:spLocks noGrp="1"/>
          </p:cNvSpPr>
          <p:nvPr>
            <p:ph type="ftr" sz="quarter" idx="11"/>
          </p:nvPr>
        </p:nvSpPr>
        <p:spPr/>
        <p:txBody>
          <a:bodyPr/>
          <a:lstStyle/>
          <a:p>
            <a:r>
              <a:rPr lang="en-US" dirty="0"/>
              <a:t>Lifeline Medical</a:t>
            </a:r>
            <a:endParaRPr lang="en-US" dirty="0"/>
          </a:p>
        </p:txBody>
      </p:sp>
    </p:spTree>
    <p:extLst>
      <p:ext uri="{BB962C8B-B14F-4D97-AF65-F5344CB8AC3E}">
        <p14:creationId xmlns:p14="http://schemas.microsoft.com/office/powerpoint/2010/main" val="82442856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9"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9"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9"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9" fill="hold" grpId="0"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 calcmode="lin" valueType="num">
                                      <p:cBhvr additive="base">
                                        <p:cTn id="31" dur="500" fill="hold"/>
                                        <p:tgtEl>
                                          <p:spTgt spid="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
                                            <p:txEl>
                                              <p:pRg st="4" end="4"/>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5" name="Title 4                                                                                                                                                                                                                                                                                 |XCFicdb88EK18Ycfo4vtng==|2393"/>
          <p:cNvSpPr>
            <a:spLocks noGrp="1"/>
          </p:cNvSpPr>
          <p:nvPr>
            <p:ph type="title"/>
          </p:nvPr>
        </p:nvSpPr>
        <p:spPr/>
        <p:txBody>
          <a:bodyPr/>
          <a:lstStyle/>
          <a:p>
            <a:r>
              <a:rPr lang="en-US" dirty="0"/>
              <a:t>Lifeline Medical Services Call Button</a:t>
            </a:r>
          </a:p>
        </p:txBody>
      </p:sp>
      <p:sp>
        <p:nvSpPr>
          <p:cNvPr id="6" name="Content Placeholder 5                                                                                                                                                                                                                                                                                 |XCFicdb88EK18Ycfo4vtng==|2393"/>
          <p:cNvSpPr>
            <a:spLocks noGrp="1"/>
          </p:cNvSpPr>
          <p:nvPr>
            <p:ph idx="1"/>
          </p:nvPr>
        </p:nvSpPr>
        <p:spPr>
          <a:xfrm>
            <a:off x="838199" y="1825625"/>
            <a:ext cx="8357315" cy="2194560"/>
          </a:xfrm>
        </p:spPr>
        <p:txBody>
          <a:bodyPr>
            <a:normAutofit/>
          </a:bodyPr>
          <a:lstStyle/>
          <a:p>
            <a:r>
              <a:rPr lang="en-US" dirty="0"/>
              <a:t>Staffed 24/7</a:t>
            </a:r>
          </a:p>
          <a:p>
            <a:r>
              <a:rPr lang="en-US" dirty="0"/>
              <a:t>Simple Push-to-Call Button</a:t>
            </a:r>
          </a:p>
          <a:p>
            <a:r>
              <a:rPr lang="en-US" dirty="0"/>
              <a:t>Can be worn or placed anywhere in the user’s home</a:t>
            </a:r>
          </a:p>
          <a:p>
            <a:r>
              <a:rPr lang="en-US" dirty="0"/>
              <a:t>Flat-rate pricing that is affordable! Insurance accepted!</a:t>
            </a:r>
          </a:p>
        </p:txBody>
      </p:sp>
      <p:sp>
        <p:nvSpPr>
          <p:cNvPr id="3" name="Oval 2"/>
          <p:cNvSpPr/>
          <p:nvPr/>
        </p:nvSpPr>
        <p:spPr>
          <a:xfrm>
            <a:off x="9296400" y="1825625"/>
            <a:ext cx="2514600" cy="2514600"/>
          </a:xfrm>
          <a:prstGeom prst="ellipse">
            <a:avLst/>
          </a:prstGeom>
        </p:spPr>
        <p:style>
          <a:lnRef idx="0">
            <a:schemeClr val="accent1"/>
          </a:lnRef>
          <a:fillRef idx="3">
            <a:schemeClr val="accent1"/>
          </a:fillRef>
          <a:effectRef idx="2">
            <a:schemeClr val="accent1"/>
          </a:effectRef>
          <a:fontRef idx="minor">
            <a:schemeClr val="lt1"/>
          </a:fontRef>
        </p:style>
        <p:txBody>
          <a:bodyPr rtlCol="0" anchor="ctr"/>
          <a:lstStyle/>
          <a:p>
            <a:pPr algn="ctr"/>
            <a:r>
              <a:rPr lang="en-US" dirty="0"/>
              <a:t>LMS Call Button</a:t>
            </a:r>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199" y="3756050"/>
            <a:ext cx="7077456" cy="3104172"/>
          </a:xfrm>
          <a:prstGeom prst="ellipse">
            <a:avLst/>
          </a:prstGeom>
          <a:effectLst>
            <a:softEdge rad="112500"/>
          </a:effectLst>
        </p:spPr>
      </p:pic>
      <p:sp>
        <p:nvSpPr>
          <p:cNvPr id="20" name="Date Placeholder 19"/>
          <p:cNvSpPr>
            <a:spLocks noGrp="1"/>
          </p:cNvSpPr>
          <p:nvPr>
            <p:ph type="dt" sz="half" idx="10"/>
          </p:nvPr>
        </p:nvSpPr>
        <p:spPr/>
        <p:txBody>
          <a:bodyPr/>
          <a:lstStyle/>
          <a:p>
            <a:fld id="{87C5E4AA-B42B-43B4-9314-F26E32E97B8E}" type="datetime1">
              <a:rPr lang="en-US"/>
              <a:t>10/13/2026</a:t>
            </a:fld>
            <a:endParaRPr lang="en-US" dirty="0"/>
          </a:p>
        </p:txBody>
      </p:sp>
      <p:sp>
        <p:nvSpPr>
          <p:cNvPr id="21" name="Footer Placeholder 20"/>
          <p:cNvSpPr>
            <a:spLocks noGrp="1"/>
          </p:cNvSpPr>
          <p:nvPr>
            <p:ph type="ftr" sz="quarter" idx="11"/>
          </p:nvPr>
        </p:nvSpPr>
        <p:spPr/>
        <p:txBody>
          <a:bodyPr/>
          <a:lstStyle/>
          <a:p>
            <a:r>
              <a:rPr lang="en-US" dirty="0"/>
              <a:t>Lifeline Medical</a:t>
            </a:r>
            <a:endParaRPr lang="en-US" dirty="0"/>
          </a:p>
        </p:txBody>
      </p:sp>
    </p:spTree>
    <p:extLst>
      <p:ext uri="{BB962C8B-B14F-4D97-AF65-F5344CB8AC3E}">
        <p14:creationId xmlns:p14="http://schemas.microsoft.com/office/powerpoint/2010/main" val="129666316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4" name="Title 3                                                                                                                                                                                                                                                                                 |XCFicdb88EK18Ycfo4vtng==|2393"/>
          <p:cNvSpPr>
            <a:spLocks noGrp="1"/>
          </p:cNvSpPr>
          <p:nvPr>
            <p:ph type="title"/>
          </p:nvPr>
        </p:nvSpPr>
        <p:spPr/>
        <p:txBody>
          <a:bodyPr/>
          <a:lstStyle/>
          <a:p>
            <a:r>
              <a:rPr lang="en-US" dirty="0"/>
              <a:t>Location</a:t>
            </a:r>
          </a:p>
        </p:txBody>
      </p:sp>
      <p:pic>
        <p:nvPicPr>
          <p:cNvPr id="8" name="Content Placeholder 7                                                                                                                                                                                                                                                                                 |XCFicdb88EK18Ycfo4vtng==|239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636213" y="1470417"/>
            <a:ext cx="6199600" cy="4133066"/>
          </a:xfrm>
        </p:spPr>
      </p:pic>
      <p:sp>
        <p:nvSpPr>
          <p:cNvPr id="6" name="Text Placeholder 5                                                                                                                                                                                                                                                                                 |XCFicdb88EK18Ycfo4vtng==|2393"/>
          <p:cNvSpPr>
            <a:spLocks noGrp="1"/>
          </p:cNvSpPr>
          <p:nvPr>
            <p:ph type="body" sz="half" idx="2"/>
          </p:nvPr>
        </p:nvSpPr>
        <p:spPr/>
        <p:txBody>
          <a:bodyPr/>
          <a:lstStyle/>
          <a:p>
            <a:r>
              <a:rPr lang="en-US" dirty="0"/>
              <a:t>Lifeline Medical Services is located in the heart of downtown Hartford. We service the greater Hartford. We are looking to expand into other portions of the state. </a:t>
            </a:r>
          </a:p>
          <a:p>
            <a:r>
              <a:rPr lang="en-US" dirty="0"/>
              <a:t>Where will our investors help us to head next?</a:t>
            </a:r>
          </a:p>
        </p:txBody>
      </p:sp>
      <p:sp>
        <p:nvSpPr>
          <p:cNvPr id="13" name="Oval 12"/>
          <p:cNvSpPr/>
          <p:nvPr/>
        </p:nvSpPr>
        <p:spPr>
          <a:xfrm>
            <a:off x="6089904" y="2752344"/>
            <a:ext cx="137160" cy="13716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p:cNvSpPr/>
          <p:nvPr/>
        </p:nvSpPr>
        <p:spPr>
          <a:xfrm>
            <a:off x="6705600" y="1975104"/>
            <a:ext cx="914400" cy="914400"/>
          </a:xfrm>
          <a:prstGeom prst="rect">
            <a:avLst/>
          </a:prstGeom>
          <a:solidFill>
            <a:schemeClr val="bg1">
              <a:lumMod val="50000"/>
            </a:scheme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 are here!</a:t>
            </a:r>
            <a:endParaRPr lang="en-US" dirty="0"/>
          </a:p>
        </p:txBody>
      </p:sp>
      <p:sp>
        <p:nvSpPr>
          <p:cNvPr id="2" name="Date Placeholder 1                                                                                                                                                                                                                                                                                 |XCFicdb88EK18Ycfo4vtng==|2393"/>
          <p:cNvSpPr>
            <a:spLocks noGrp="1"/>
          </p:cNvSpPr>
          <p:nvPr>
            <p:ph type="dt" sz="half" idx="10"/>
          </p:nvPr>
        </p:nvSpPr>
        <p:spPr/>
        <p:txBody>
          <a:bodyPr/>
          <a:lstStyle/>
          <a:p>
            <a:fld id="{87C5E4AA-B42B-43B4-9314-F26E32E97B8E}" type="datetime1">
              <a:rPr lang="en-US" smtClean="0"/>
              <a:t>7/16/2018</a:t>
            </a:fld>
            <a:endParaRPr lang="en-US" dirty="0"/>
          </a:p>
        </p:txBody>
      </p:sp>
      <p:sp>
        <p:nvSpPr>
          <p:cNvPr id="3" name="Footer Placeholder 2                                                                                                                                                                                                                                                                                 |XCFicdb88EK18Ycfo4vtng==|2393"/>
          <p:cNvSpPr>
            <a:spLocks noGrp="1"/>
          </p:cNvSpPr>
          <p:nvPr>
            <p:ph type="ftr" sz="quarter" idx="11"/>
          </p:nvPr>
        </p:nvSpPr>
        <p:spPr/>
        <p:txBody>
          <a:bodyPr/>
          <a:lstStyle/>
          <a:p>
            <a:r>
              <a:rPr lang="en-US" dirty="0"/>
              <a:t>Lifeline Medical</a:t>
            </a:r>
            <a:endParaRPr lang="en-US" dirty="0"/>
          </a:p>
        </p:txBody>
      </p:sp>
    </p:spTree>
    <p:extLst>
      <p:ext uri="{BB962C8B-B14F-4D97-AF65-F5344CB8AC3E}">
        <p14:creationId xmlns:p14="http://schemas.microsoft.com/office/powerpoint/2010/main" val="30630338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500"/>
                                  </p:stCondLst>
                                  <p:childTnLst>
                                    <p:animScale>
                                      <p:cBhvr>
                                        <p:cTn id="6" dur="3000" fill="hold"/>
                                        <p:tgtEl>
                                          <p:spTgt spid="1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5" name="Title 4                                                                                                                                                                                                                                                                                 |XCFicdb88EK18Ycfo4vtng==|2393"/>
          <p:cNvSpPr>
            <a:spLocks noGrp="1"/>
          </p:cNvSpPr>
          <p:nvPr>
            <p:ph type="title"/>
          </p:nvPr>
        </p:nvSpPr>
        <p:spPr/>
        <p:txBody>
          <a:bodyPr>
            <a:normAutofit/>
          </a:bodyPr>
          <a:lstStyle/>
          <a:p>
            <a:r>
              <a:rPr lang="en-US" dirty="0"/>
              <a:t>Investment Needs</a:t>
            </a:r>
          </a:p>
        </p:txBody>
      </p:sp>
      <p:pic>
        <p:nvPicPr>
          <p:cNvPr id="8" name="Content Placeholder 7                                                                                                                                                                                                                                                                                 |XCFicdb88EK18Ycfo4vtng==|2393"/>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1024128" y="2173223"/>
            <a:ext cx="4754880" cy="3169920"/>
          </a:xfrm>
        </p:spPr>
      </p:pic>
      <p:sp>
        <p:nvSpPr>
          <p:cNvPr id="7" name="Content Placeholder 6                                                                                                                                                                                                                                                                                 |XCFicdb88EK18Ycfo4vtng==|2393"/>
          <p:cNvSpPr>
            <a:spLocks noGrp="1"/>
          </p:cNvSpPr>
          <p:nvPr>
            <p:ph sz="half" idx="2"/>
          </p:nvPr>
        </p:nvSpPr>
        <p:spPr>
          <a:xfrm>
            <a:off x="5989319" y="2322576"/>
            <a:ext cx="5421363" cy="3291840"/>
          </a:xfrm>
        </p:spPr>
        <p:txBody>
          <a:bodyPr>
            <a:normAutofit/>
          </a:bodyPr>
          <a:lstStyle/>
          <a:p>
            <a:r>
              <a:rPr lang="en-US" dirty="0"/>
              <a:t>Funds to upgrade phone system</a:t>
            </a:r>
          </a:p>
          <a:p>
            <a:r>
              <a:rPr lang="en-US" dirty="0"/>
              <a:t>Funding for more nurse training</a:t>
            </a:r>
          </a:p>
          <a:p>
            <a:r>
              <a:rPr lang="en-US" dirty="0"/>
              <a:t>Funding to establish a second call center</a:t>
            </a:r>
          </a:p>
          <a:p>
            <a:r>
              <a:rPr lang="en-US" dirty="0"/>
              <a:t>Resources to establish partnerships with other hospitals</a:t>
            </a:r>
          </a:p>
          <a:p>
            <a:r>
              <a:rPr lang="en-US" dirty="0"/>
              <a:t>Funds for Lifeline™ Marketing</a:t>
            </a:r>
          </a:p>
          <a:p>
            <a:pPr marL="0" indent="0">
              <a:buNone/>
            </a:pPr>
            <a:endParaRPr lang="en-US" dirty="0"/>
          </a:p>
        </p:txBody>
      </p:sp>
      <p:sp>
        <p:nvSpPr>
          <p:cNvPr id="20" name="Date Placeholder 19"/>
          <p:cNvSpPr>
            <a:spLocks noGrp="1"/>
          </p:cNvSpPr>
          <p:nvPr>
            <p:ph type="dt" sz="half" idx="10"/>
          </p:nvPr>
        </p:nvSpPr>
        <p:spPr/>
        <p:txBody>
          <a:bodyPr/>
          <a:lstStyle/>
          <a:p>
            <a:fld id="{87C5E4AA-B42B-43B4-9314-F26E32E97B8E}" type="datetime1">
              <a:rPr lang="en-US"/>
              <a:t>10/13/2026</a:t>
            </a:fld>
            <a:endParaRPr lang="en-US" dirty="0"/>
          </a:p>
        </p:txBody>
      </p:sp>
      <p:sp>
        <p:nvSpPr>
          <p:cNvPr id="21" name="Footer Placeholder 20"/>
          <p:cNvSpPr>
            <a:spLocks noGrp="1"/>
          </p:cNvSpPr>
          <p:nvPr>
            <p:ph type="ftr" sz="quarter" idx="11"/>
          </p:nvPr>
        </p:nvSpPr>
        <p:spPr/>
        <p:txBody>
          <a:bodyPr/>
          <a:lstStyle/>
          <a:p>
            <a:r>
              <a:rPr lang="en-US" dirty="0"/>
              <a:t>Lifeline Medical</a:t>
            </a:r>
            <a:endParaRPr lang="en-US" dirty="0"/>
          </a:p>
        </p:txBody>
      </p:sp>
    </p:spTree>
    <p:extLst>
      <p:ext uri="{BB962C8B-B14F-4D97-AF65-F5344CB8AC3E}">
        <p14:creationId xmlns:p14="http://schemas.microsoft.com/office/powerpoint/2010/main" val="278719185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5" name="Title 4                                                                                                                                                                                                                                                                                 |XCFicdb88EK18Ycfo4vtng==|2393"/>
          <p:cNvSpPr>
            <a:spLocks noGrp="1"/>
          </p:cNvSpPr>
          <p:nvPr>
            <p:ph type="title"/>
          </p:nvPr>
        </p:nvSpPr>
        <p:spPr/>
        <p:txBody>
          <a:bodyPr/>
          <a:lstStyle/>
          <a:p>
            <a:r>
              <a:rPr lang="en-US" dirty="0"/>
              <a:t>Highest Level of Investment Need</a:t>
            </a:r>
          </a:p>
        </p:txBody>
      </p:sp>
      <p:pic>
        <p:nvPicPr>
          <p:cNvPr id="8" name="Support_PPT19_2a_Ambulance">
            <a:hlinkClick r:id="" action="ppaction://media"/>
          </p:cNvPr>
          <p:cNvPicPr>
            <a:picLocks noGrp="1" noChangeAspect="1"/>
          </p:cNvPicPr>
          <p:nvPr>
            <p:ph idx="1"/>
            <a:videoFile r:link="rId3"/>
            <p:extLst>
              <p:ext uri="{DAA4B4D4-6D71-4841-9C94-3DE7FCFB9230}">
                <p14:media xmlns:p14="http://schemas.microsoft.com/office/powerpoint/2010/main" r:embed="rId2"/>
              </p:ext>
            </p:extLst>
          </p:nvPr>
        </p:nvPicPr>
        <p:blipFill>
          <a:blip r:embed="rId4"/>
          <a:stretch>
            <a:fillRect/>
          </a:stretch>
        </p:blipFill>
        <p:spPr>
          <a:xfrm>
            <a:off x="609600" y="1754747"/>
            <a:ext cx="5943600" cy="3348507"/>
          </a:xfrm>
        </p:spPr>
      </p:pic>
      <p:sp>
        <p:nvSpPr>
          <p:cNvPr id="7" name="Text Placeholder 6                                                                                                                                                                                                                                                                                 |XCFicdb88EK18Ycfo4vtng==|2393"/>
          <p:cNvSpPr>
            <a:spLocks noGrp="1"/>
          </p:cNvSpPr>
          <p:nvPr>
            <p:ph type="body" sz="half" idx="2"/>
          </p:nvPr>
        </p:nvSpPr>
        <p:spPr/>
        <p:txBody>
          <a:bodyPr/>
          <a:lstStyle/>
          <a:p>
            <a:r>
              <a:rPr lang="en-US" dirty="0"/>
              <a:t>We highly value our transport partnership with the local EMS. It is important that we are able to have funds available to establish new partnerships in future service zones prior to launching in a new area. </a:t>
            </a:r>
          </a:p>
        </p:txBody>
      </p:sp>
      <p:sp>
        <p:nvSpPr>
          <p:cNvPr id="9" name="Date Placeholder 8"/>
          <p:cNvSpPr>
            <a:spLocks noGrp="1"/>
          </p:cNvSpPr>
          <p:nvPr>
            <p:ph type="dt" sz="half" idx="10"/>
          </p:nvPr>
        </p:nvSpPr>
        <p:spPr>
          <a:xfrm>
            <a:off x="9067800" y="6465885"/>
            <a:ext cx="1066800" cy="239715"/>
          </a:xfrm>
        </p:spPr>
        <p:txBody>
          <a:bodyPr/>
          <a:lstStyle/>
          <a:p>
            <a:fld id="{87C5E4AA-B42B-43B4-9314-F26E32E97B8E}" type="datetime1">
              <a:rPr lang="en-US"/>
              <a:t>10/13/2026</a:t>
            </a:fld>
            <a:endParaRPr lang="en-US" dirty="0"/>
          </a:p>
        </p:txBody>
      </p:sp>
      <p:sp>
        <p:nvSpPr>
          <p:cNvPr id="10" name="Footer Placeholder 9"/>
          <p:cNvSpPr>
            <a:spLocks noGrp="1"/>
          </p:cNvSpPr>
          <p:nvPr>
            <p:ph type="ftr" sz="quarter" idx="11"/>
          </p:nvPr>
        </p:nvSpPr>
        <p:spPr>
          <a:xfrm>
            <a:off x="1066800" y="6481760"/>
            <a:ext cx="7848600" cy="239715"/>
          </a:xfrm>
        </p:spPr>
        <p:txBody>
          <a:bodyPr/>
          <a:lstStyle/>
          <a:p>
            <a:r>
              <a:rPr lang="en-US" dirty="0"/>
              <a:t>Lifeline Medical</a:t>
            </a:r>
            <a:endParaRPr lang="en-US" dirty="0"/>
          </a:p>
        </p:txBody>
      </p:sp>
    </p:spTree>
    <p:extLst>
      <p:ext uri="{BB962C8B-B14F-4D97-AF65-F5344CB8AC3E}">
        <p14:creationId xmlns:p14="http://schemas.microsoft.com/office/powerpoint/2010/main" val="69950797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565"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8"/>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5" name="Title 4                                                                                                                                                                                                                                                                                 |XCFicdb88EK18Ycfo4vtng==|2393"/>
          <p:cNvSpPr>
            <a:spLocks noGrp="1"/>
          </p:cNvSpPr>
          <p:nvPr>
            <p:ph type="title"/>
          </p:nvPr>
        </p:nvSpPr>
        <p:spPr/>
        <p:txBody>
          <a:bodyPr/>
          <a:lstStyle/>
          <a:p>
            <a:r>
              <a:rPr lang="en-US" dirty="0"/>
              <a:t>Service Usage Increase</a:t>
            </a:r>
          </a:p>
        </p:txBody>
      </p:sp>
      <p:graphicFrame>
        <p:nvGraphicFramePr>
          <p:cNvPr id="7" name="Content Placeholder 5"/>
          <p:cNvGraphicFramePr>
            <a:graphicFrameLocks noGrp="1"/>
          </p:cNvGraphicFramePr>
          <p:nvPr>
            <p:ph idx="1"/>
          </p:nvPr>
        </p:nvGraphicFramePr>
        <p:xfrm>
          <a:off x="1524000" y="1828799"/>
          <a:ext cx="9144000" cy="1483360"/>
        </p:xfrm>
        <a:graphic>
          <a:graphicData uri="http://schemas.openxmlformats.org/drawingml/2006/table">
            <a:tbl>
              <a:tblPr firstRow="1" bandRow="1">
                <a:tableStyleId>{5C22544A-7EE6-4342-B048-85BDC9FD1C3A}</a:tableStyleId>
              </a:tblPr>
              <a:tblGrid>
                <a:gridCol w="4572000"/>
                <a:gridCol w="4572000"/>
              </a:tblGrid>
              <a:tr h="370840">
                <a:tc>
                  <a:txBody>
                    <a:bodyPr/>
                    <a:lstStyle/>
                    <a:p>
                      <a:r>
                        <a:rPr lang="en-US" dirty="0"/>
                        <a:t>Year</a:t>
                      </a:r>
                    </a:p>
                  </a:txBody>
                  <a:tcPr/>
                </a:tc>
                <a:tc>
                  <a:txBody>
                    <a:bodyPr/>
                    <a:lstStyle/>
                    <a:p>
                      <a:r>
                        <a:rPr lang="en-US" dirty="0"/>
                        <a:t>Total Calls</a:t>
                      </a:r>
                    </a:p>
                  </a:txBody>
                  <a:tcPr/>
                </a:tc>
              </a:tr>
              <a:tr h="370840">
                <a:tc>
                  <a:txBody>
                    <a:bodyPr/>
                    <a:lstStyle/>
                    <a:p>
                      <a:r>
                        <a:rPr lang="en-US" dirty="0"/>
                        <a:t>2017</a:t>
                      </a:r>
                    </a:p>
                  </a:txBody>
                  <a:tcPr/>
                </a:tc>
                <a:tc>
                  <a:txBody>
                    <a:bodyPr/>
                    <a:lstStyle/>
                    <a:p>
                      <a:r>
                        <a:rPr lang="en-US" dirty="0"/>
                        <a:t>439</a:t>
                      </a:r>
                    </a:p>
                  </a:txBody>
                  <a:tcPr/>
                </a:tc>
              </a:tr>
              <a:tr h="370840">
                <a:tc>
                  <a:txBody>
                    <a:bodyPr/>
                    <a:lstStyle/>
                    <a:p>
                      <a:r>
                        <a:rPr lang="en-US" dirty="0"/>
                        <a:t>2016</a:t>
                      </a:r>
                    </a:p>
                  </a:txBody>
                  <a:tcPr/>
                </a:tc>
                <a:tc>
                  <a:txBody>
                    <a:bodyPr/>
                    <a:lstStyle/>
                    <a:p>
                      <a:r>
                        <a:rPr lang="en-US" dirty="0"/>
                        <a:t>221</a:t>
                      </a:r>
                    </a:p>
                  </a:txBody>
                  <a:tcPr/>
                </a:tc>
              </a:tr>
              <a:tr h="370840">
                <a:tc>
                  <a:txBody>
                    <a:bodyPr/>
                    <a:lstStyle/>
                    <a:p>
                      <a:r>
                        <a:rPr lang="en-US" dirty="0"/>
                        <a:t>2015</a:t>
                      </a:r>
                    </a:p>
                  </a:txBody>
                  <a:tcPr/>
                </a:tc>
                <a:tc>
                  <a:txBody>
                    <a:bodyPr/>
                    <a:lstStyle/>
                    <a:p>
                      <a:r>
                        <a:rPr lang="en-US" dirty="0"/>
                        <a:t>157</a:t>
                      </a:r>
                    </a:p>
                  </a:txBody>
                  <a:tcPr/>
                </a:tc>
              </a:tr>
            </a:tbl>
          </a:graphicData>
        </a:graphic>
      </p:graphicFrame>
      <p:sp>
        <p:nvSpPr>
          <p:cNvPr id="20" name="Date Placeholder 19"/>
          <p:cNvSpPr>
            <a:spLocks noGrp="1"/>
          </p:cNvSpPr>
          <p:nvPr>
            <p:ph type="dt" sz="half" idx="10"/>
          </p:nvPr>
        </p:nvSpPr>
        <p:spPr/>
        <p:txBody>
          <a:bodyPr/>
          <a:lstStyle/>
          <a:p>
            <a:fld id="{87C5E4AA-B42B-43B4-9314-F26E32E97B8E}" type="datetime1">
              <a:rPr lang="en-US"/>
              <a:t>10/13/2026</a:t>
            </a:fld>
            <a:endParaRPr lang="en-US" dirty="0"/>
          </a:p>
        </p:txBody>
      </p:sp>
      <p:sp>
        <p:nvSpPr>
          <p:cNvPr id="21" name="Footer Placeholder 20"/>
          <p:cNvSpPr>
            <a:spLocks noGrp="1"/>
          </p:cNvSpPr>
          <p:nvPr>
            <p:ph type="ftr" sz="quarter" idx="11"/>
          </p:nvPr>
        </p:nvSpPr>
        <p:spPr/>
        <p:txBody>
          <a:bodyPr/>
          <a:lstStyle/>
          <a:p>
            <a:r>
              <a:rPr lang="en-US" dirty="0"/>
              <a:t>Lifeline Medical</a:t>
            </a:r>
            <a:endParaRPr lang="en-US" dirty="0"/>
          </a:p>
        </p:txBody>
      </p:sp>
    </p:spTree>
    <p:extLst>
      <p:ext uri="{BB962C8B-B14F-4D97-AF65-F5344CB8AC3E}">
        <p14:creationId xmlns:p14="http://schemas.microsoft.com/office/powerpoint/2010/main" val="50246934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4" name="Title 3                                                                                                                                                                                                                                                                                 |XCFicdb88EK18Ycfo4vtng==|2393"/>
          <p:cNvSpPr>
            <a:spLocks noGrp="1"/>
          </p:cNvSpPr>
          <p:nvPr>
            <p:ph type="title"/>
          </p:nvPr>
        </p:nvSpPr>
        <p:spPr/>
        <p:txBody>
          <a:bodyPr/>
          <a:lstStyle/>
          <a:p>
            <a:r>
              <a:rPr lang="en-US" dirty="0"/>
              <a:t>Investment Levels</a:t>
            </a:r>
          </a:p>
        </p:txBody>
      </p:sp>
      <p:graphicFrame>
        <p:nvGraphicFramePr>
          <p:cNvPr id="6" name="Content Placeholder 5                                                                                                                                                                                                                                                                                 |XCFicdb88EK18Ycfo4vtng==|2393"/>
          <p:cNvGraphicFramePr>
            <a:graphicFrameLocks noGrp="1"/>
          </p:cNvGraphicFramePr>
          <p:nvPr>
            <p:ph idx="1"/>
            <p:extLst>
              <p:ext uri="{D42A27DB-BD31-4B8C-83A1-F6EECF244321}">
                <p14:modId xmlns:p14="http://schemas.microsoft.com/office/powerpoint/2010/main" val="2298422271"/>
              </p:ext>
            </p:extLst>
          </p:nvPr>
        </p:nvGraphicFramePr>
        <p:xfrm>
          <a:off x="1024128" y="2286000"/>
          <a:ext cx="9720072" cy="1810512"/>
        </p:xfrm>
        <a:graphic>
          <a:graphicData uri="http://schemas.openxmlformats.org/drawingml/2006/table">
            <a:tbl>
              <a:tblPr firstRow="1" bandRow="1">
                <a:tableStyleId>{72833802-FEF1-4C79-8D5D-14CF1EAF98D9}</a:tableStyleId>
              </a:tblPr>
              <a:tblGrid>
                <a:gridCol w="5724402">
                  <a:extLst>
                    <a:ext uri="{9D8B030D-6E8A-4147-A177-3AD203B41FA5}">
                      <a16:colId xmlns:a16="http://schemas.microsoft.com/office/drawing/2014/main" val="342887078"/>
                    </a:ext>
                  </a:extLst>
                </a:gridCol>
                <a:gridCol w="1661374">
                  <a:extLst>
                    <a:ext uri="{9D8B030D-6E8A-4147-A177-3AD203B41FA5}">
                      <a16:colId xmlns:a16="http://schemas.microsoft.com/office/drawing/2014/main" val="2814437063"/>
                    </a:ext>
                  </a:extLst>
                </a:gridCol>
                <a:gridCol w="2334296">
                  <a:extLst>
                    <a:ext uri="{9D8B030D-6E8A-4147-A177-3AD203B41FA5}">
                      <a16:colId xmlns:a16="http://schemas.microsoft.com/office/drawing/2014/main" val="810887216"/>
                    </a:ext>
                  </a:extLst>
                </a:gridCol>
              </a:tblGrid>
              <a:tr h="685800">
                <a:tc>
                  <a:txBody>
                    <a:bodyPr/>
                    <a:lstStyle/>
                    <a:p>
                      <a:pPr algn="ctr"/>
                      <a:r>
                        <a:rPr lang="en-US" dirty="0"/>
                        <a:t>Investment Level</a:t>
                      </a:r>
                    </a:p>
                  </a:txBody>
                  <a:tcPr anchor="ctr"/>
                </a:tc>
                <a:tc>
                  <a:txBody>
                    <a:bodyPr/>
                    <a:lstStyle/>
                    <a:p>
                      <a:pPr algn="ctr"/>
                      <a:r>
                        <a:rPr lang="en-US" dirty="0"/>
                        <a:t>Investment</a:t>
                      </a:r>
                    </a:p>
                  </a:txBody>
                  <a:tcPr anchor="ctr"/>
                </a:tc>
                <a:tc>
                  <a:txBody>
                    <a:bodyPr/>
                    <a:lstStyle/>
                    <a:p>
                      <a:pPr algn="ctr"/>
                      <a:r>
                        <a:rPr lang="en-US" dirty="0"/>
                        <a:t>Share</a:t>
                      </a:r>
                      <a:r>
                        <a:rPr lang="en-US" baseline="0" dirty="0"/>
                        <a:t> of Company</a:t>
                      </a:r>
                      <a:endParaRPr lang="en-US" dirty="0"/>
                    </a:p>
                  </a:txBody>
                  <a:tcPr anchor="ctr"/>
                </a:tc>
                <a:extLst>
                  <a:ext uri="{0D108BD9-81ED-4DB2-BD59-A6C34878D82A}">
                    <a16:rowId xmlns:a16="http://schemas.microsoft.com/office/drawing/2014/main" val="3272297484"/>
                  </a:ext>
                </a:extLst>
              </a:tr>
              <a:tr h="374904">
                <a:tc>
                  <a:txBody>
                    <a:bodyPr/>
                    <a:lstStyle/>
                    <a:p>
                      <a:r>
                        <a:rPr lang="en-US" dirty="0"/>
                        <a:t>Partner</a:t>
                      </a:r>
                    </a:p>
                  </a:txBody>
                  <a:tcPr>
                    <a:solidFill>
                      <a:schemeClr val="accent6">
                        <a:lumMod val="60000"/>
                        <a:lumOff val="40000"/>
                      </a:schemeClr>
                    </a:solidFill>
                  </a:tcPr>
                </a:tc>
                <a:tc>
                  <a:txBody>
                    <a:bodyPr/>
                    <a:lstStyle/>
                    <a:p>
                      <a:pPr algn="r"/>
                      <a:r>
                        <a:rPr lang="en-US" dirty="0"/>
                        <a:t>$100,000</a:t>
                      </a:r>
                    </a:p>
                  </a:txBody>
                  <a:tcPr>
                    <a:solidFill>
                      <a:schemeClr val="accent6">
                        <a:lumMod val="60000"/>
                        <a:lumOff val="40000"/>
                      </a:schemeClr>
                    </a:solidFill>
                  </a:tcPr>
                </a:tc>
                <a:tc>
                  <a:txBody>
                    <a:bodyPr/>
                    <a:lstStyle/>
                    <a:p>
                      <a:pPr algn="r"/>
                      <a:r>
                        <a:rPr lang="en-US" dirty="0"/>
                        <a:t>5%</a:t>
                      </a:r>
                    </a:p>
                  </a:txBody>
                  <a:tcPr>
                    <a:solidFill>
                      <a:schemeClr val="accent6">
                        <a:lumMod val="60000"/>
                        <a:lumOff val="40000"/>
                      </a:schemeClr>
                    </a:solidFill>
                  </a:tcPr>
                </a:tc>
                <a:extLst>
                  <a:ext uri="{0D108BD9-81ED-4DB2-BD59-A6C34878D82A}">
                    <a16:rowId xmlns:a16="http://schemas.microsoft.com/office/drawing/2014/main" val="3197799723"/>
                  </a:ext>
                </a:extLst>
              </a:tr>
              <a:tr h="374904">
                <a:tc>
                  <a:txBody>
                    <a:bodyPr/>
                    <a:lstStyle/>
                    <a:p>
                      <a:r>
                        <a:rPr lang="en-US" dirty="0"/>
                        <a:t>Visionary </a:t>
                      </a:r>
                    </a:p>
                  </a:txBody>
                  <a:tcPr/>
                </a:tc>
                <a:tc>
                  <a:txBody>
                    <a:bodyPr/>
                    <a:lstStyle/>
                    <a:p>
                      <a:pPr algn="r"/>
                      <a:r>
                        <a:rPr lang="en-US" dirty="0"/>
                        <a:t>$150,000</a:t>
                      </a:r>
                    </a:p>
                  </a:txBody>
                  <a:tcPr/>
                </a:tc>
                <a:tc>
                  <a:txBody>
                    <a:bodyPr/>
                    <a:lstStyle/>
                    <a:p>
                      <a:pPr algn="r"/>
                      <a:r>
                        <a:rPr lang="en-US" dirty="0"/>
                        <a:t>8%</a:t>
                      </a:r>
                    </a:p>
                  </a:txBody>
                  <a:tcPr/>
                </a:tc>
                <a:extLst>
                  <a:ext uri="{0D108BD9-81ED-4DB2-BD59-A6C34878D82A}">
                    <a16:rowId xmlns:a16="http://schemas.microsoft.com/office/drawing/2014/main" val="1852438604"/>
                  </a:ext>
                </a:extLst>
              </a:tr>
              <a:tr h="374904">
                <a:tc>
                  <a:txBody>
                    <a:bodyPr/>
                    <a:lstStyle/>
                    <a:p>
                      <a:r>
                        <a:rPr lang="en-US" dirty="0"/>
                        <a:t>Cornerstone</a:t>
                      </a:r>
                    </a:p>
                  </a:txBody>
                  <a:tcPr/>
                </a:tc>
                <a:tc>
                  <a:txBody>
                    <a:bodyPr/>
                    <a:lstStyle/>
                    <a:p>
                      <a:pPr algn="r"/>
                      <a:r>
                        <a:rPr lang="en-US" dirty="0"/>
                        <a:t>$250,000</a:t>
                      </a:r>
                    </a:p>
                  </a:txBody>
                  <a:tcPr/>
                </a:tc>
                <a:tc>
                  <a:txBody>
                    <a:bodyPr/>
                    <a:lstStyle/>
                    <a:p>
                      <a:pPr algn="r"/>
                      <a:r>
                        <a:rPr lang="en-US" dirty="0"/>
                        <a:t>12%</a:t>
                      </a:r>
                    </a:p>
                  </a:txBody>
                  <a:tcPr/>
                </a:tc>
                <a:extLst>
                  <a:ext uri="{0D108BD9-81ED-4DB2-BD59-A6C34878D82A}">
                    <a16:rowId xmlns:a16="http://schemas.microsoft.com/office/drawing/2014/main" val="2009772929"/>
                  </a:ext>
                </a:extLst>
              </a:tr>
            </a:tbl>
          </a:graphicData>
        </a:graphic>
      </p:graphicFrame>
      <p:sp>
        <p:nvSpPr>
          <p:cNvPr id="20" name="Date Placeholder 19"/>
          <p:cNvSpPr>
            <a:spLocks noGrp="1"/>
          </p:cNvSpPr>
          <p:nvPr>
            <p:ph type="dt" sz="half" idx="10"/>
          </p:nvPr>
        </p:nvSpPr>
        <p:spPr/>
        <p:txBody>
          <a:bodyPr/>
          <a:lstStyle/>
          <a:p>
            <a:fld id="{87C5E4AA-B42B-43B4-9314-F26E32E97B8E}" type="datetime1">
              <a:rPr lang="en-US"/>
              <a:t>10/13/2026</a:t>
            </a:fld>
            <a:endParaRPr lang="en-US" dirty="0"/>
          </a:p>
        </p:txBody>
      </p:sp>
      <p:sp>
        <p:nvSpPr>
          <p:cNvPr id="21" name="Footer Placeholder 20"/>
          <p:cNvSpPr>
            <a:spLocks noGrp="1"/>
          </p:cNvSpPr>
          <p:nvPr>
            <p:ph type="ftr" sz="quarter" idx="11"/>
          </p:nvPr>
        </p:nvSpPr>
        <p:spPr/>
        <p:txBody>
          <a:bodyPr/>
          <a:lstStyle/>
          <a:p>
            <a:r>
              <a:rPr lang="en-US" dirty="0"/>
              <a:t>Lifeline Medical</a:t>
            </a:r>
            <a:endParaRPr lang="en-US" dirty="0"/>
          </a:p>
        </p:txBody>
      </p:sp>
    </p:spTree>
    <p:extLst>
      <p:ext uri="{BB962C8B-B14F-4D97-AF65-F5344CB8AC3E}">
        <p14:creationId xmlns:p14="http://schemas.microsoft.com/office/powerpoint/2010/main" val="31498409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Title 1                                                                                                                                                                                                                                                                                 |XCFicdb88EK18Ycfo4vtng==|2393"/>
          <p:cNvSpPr>
            <a:spLocks noGrp="1"/>
          </p:cNvSpPr>
          <p:nvPr>
            <p:ph type="title"/>
          </p:nvPr>
        </p:nvSpPr>
        <p:spPr/>
        <p:txBody>
          <a:bodyPr/>
          <a:lstStyle/>
          <a:p>
            <a:r>
              <a:rPr lang="en-US" dirty="0"/>
              <a:t>Interested in Partnering with Us?</a:t>
            </a:r>
          </a:p>
        </p:txBody>
      </p:sp>
      <p:sp>
        <p:nvSpPr>
          <p:cNvPr id="3" name="Content Placeholder 2                                                                                                                                                                                                                                                                                 |XCFicdb88EK18Ycfo4vtng==|2393"/>
          <p:cNvSpPr>
            <a:spLocks noGrp="1"/>
          </p:cNvSpPr>
          <p:nvPr>
            <p:ph idx="1"/>
          </p:nvPr>
        </p:nvSpPr>
        <p:spPr/>
        <p:txBody>
          <a:bodyPr anchor="t"/>
          <a:lstStyle/>
          <a:p>
            <a:pPr marL="0" indent="0">
              <a:buNone/>
            </a:pPr>
            <a:endParaRPr lang="sv-SE" dirty="0">
              <a:solidFill>
                <a:schemeClr val="accent1"/>
              </a:solidFill>
            </a:endParaRPr>
          </a:p>
          <a:p>
            <a:pPr marL="0" indent="0">
              <a:buNone/>
            </a:pPr>
            <a:endParaRPr lang="sv-SE" dirty="0">
              <a:solidFill>
                <a:schemeClr val="accent1"/>
              </a:solidFill>
            </a:endParaRPr>
          </a:p>
          <a:p>
            <a:pPr marL="0" indent="0">
              <a:buNone/>
            </a:pPr>
            <a:r>
              <a:rPr lang="sv-SE" dirty="0">
                <a:solidFill>
                  <a:schemeClr val="accent1"/>
                </a:solidFill>
              </a:rPr>
              <a:t>Lifeline Medical Services</a:t>
            </a:r>
          </a:p>
          <a:p>
            <a:pPr marL="0" indent="0">
              <a:buNone/>
            </a:pPr>
            <a:r>
              <a:rPr lang="sv-SE" dirty="0">
                <a:solidFill>
                  <a:schemeClr val="accent1"/>
                </a:solidFill>
              </a:rPr>
              <a:t>(216) 555-9110</a:t>
            </a:r>
          </a:p>
          <a:p>
            <a:pPr marL="0" indent="0">
              <a:buNone/>
            </a:pPr>
            <a:r>
              <a:rPr lang="sv-SE" dirty="0">
                <a:solidFill>
                  <a:schemeClr val="accent1"/>
                </a:solidFill>
              </a:rPr>
              <a:t>info@lifeline.cengage.com</a:t>
            </a:r>
            <a:endParaRPr lang="en-US" dirty="0">
              <a:solidFill>
                <a:schemeClr val="accent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7752" y="2249424"/>
            <a:ext cx="6265984" cy="4187952"/>
          </a:xfrm>
          <a:prstGeom prst="rect">
            <a:avLst/>
          </a:prstGeom>
          <a:effectLst>
            <a:softEdge rad="112500"/>
          </a:effectLst>
        </p:spPr>
      </p:pic>
      <p:sp>
        <p:nvSpPr>
          <p:cNvPr id="20" name="Date Placeholder 19"/>
          <p:cNvSpPr>
            <a:spLocks noGrp="1"/>
          </p:cNvSpPr>
          <p:nvPr>
            <p:ph type="dt" sz="half" idx="10"/>
          </p:nvPr>
        </p:nvSpPr>
        <p:spPr/>
        <p:txBody>
          <a:bodyPr/>
          <a:lstStyle/>
          <a:p>
            <a:fld id="{87C5E4AA-B42B-43B4-9314-F26E32E97B8E}" type="datetime1">
              <a:rPr lang="en-US"/>
              <a:t>10/13/2026</a:t>
            </a:fld>
            <a:endParaRPr lang="en-US" dirty="0"/>
          </a:p>
        </p:txBody>
      </p:sp>
      <p:sp>
        <p:nvSpPr>
          <p:cNvPr id="21" name="Footer Placeholder 20"/>
          <p:cNvSpPr>
            <a:spLocks noGrp="1"/>
          </p:cNvSpPr>
          <p:nvPr>
            <p:ph type="ftr" sz="quarter" idx="11"/>
          </p:nvPr>
        </p:nvSpPr>
        <p:spPr/>
        <p:txBody>
          <a:bodyPr/>
          <a:lstStyle/>
          <a:p>
            <a:r>
              <a:rPr lang="en-US" dirty="0"/>
              <a:t>Lifeline Medical</a:t>
            </a:r>
            <a:endParaRPr lang="en-US" dirty="0"/>
          </a:p>
        </p:txBody>
      </p:sp>
    </p:spTree>
    <p:extLst>
      <p:ext uri="{BB962C8B-B14F-4D97-AF65-F5344CB8AC3E}">
        <p14:creationId xmlns:p14="http://schemas.microsoft.com/office/powerpoint/2010/main" val="1891557064"/>
      </p:ext>
    </p:extLst>
  </p:cSld>
  <p:clrMapOvr>
    <a:masterClrMapping/>
  </p:clrMapOvr>
  <mc:AlternateContent xmlns:mc="http://schemas.openxmlformats.org/markup-compatibility/2006" xmlns:p14="http://schemas.microsoft.com/office/powerpoint/2010/main">
    <mc:Choice Requires="p14">
      <p:transition spd="slow" p14:dur="1750">
        <p14:ferris dir="l"/>
      </p:transition>
    </mc:Choice>
    <mc:Fallback>
      <p:transition spd="slow">
        <p:fade/>
      </p:transition>
    </mc:Fallback>
  </mc:AlternateContent>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141.potx" id="{D7485564-6666-4DDB-B0D3-55F6E694D6E5}" vid="{6E950D30-6FC6-4411-BCFF-468AD9ECA7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&#65279;<?xml version="1.0" encoding="utf-8" standalone="yes"?>
<Relationships xmlns="http://schemas.openxmlformats.org/package/2006/relationships">
  <Relationship Id="rId1" Type="http://schemas.openxmlformats.org/officeDocument/2006/relationships/customXmlProps" Target="itemProps1.xml" />
</Relationships>
</file>

<file path=customXml/item1.xml><?xml version="1.0" encoding="utf-8"?>
<GradingEngineProps xmlns="http://tempuri.org/temp">
  <UserID>{7162215c-fcd6-42f0-b5f1-871fa38bed9e}</UserID>
  <AssignmentID>{7162215c-fcd6-42f0-b5f1-871fa38bed9e}</AssignmentID>
</GradingEngineProps>
</file>

<file path=customXml/itemProps1.xml><?xml version="1.0" encoding="utf-8"?>
<ds:datastoreItem xmlns:ds="http://schemas.openxmlformats.org/officeDocument/2006/customXml" ds:itemID="{6e44fd94-11cd-4aca-9924-1d6daf7b974b}">
  <ds:schemaRefs>
    <ds:schemaRef ds:uri="http://tempuri.org/temp"/>
  </ds:schemaRefs>
</ds:datastoreItem>
</file>

<file path=docProps/app.xml><?xml version="1.0" encoding="utf-8"?>
<Properties xmlns="http://schemas.openxmlformats.org/officeDocument/2006/extended-properties" xmlns:vt="http://schemas.openxmlformats.org/officeDocument/2006/docPropsVTypes">
  <TotalTime>4803</TotalTime>
  <Words>221</Words>
  <Application>Microsoft Office PowerPoint</Application>
  <PresentationFormat>Widescreen</PresentationFormat>
  <Paragraphs>47</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Lifeline Medical Services</vt:lpstr>
      <vt:lpstr>All about Lifeline Medical Services</vt:lpstr>
      <vt:lpstr>Lifeline Medical Services Call Button</vt:lpstr>
      <vt:lpstr>Location</vt:lpstr>
      <vt:lpstr>Investment Needs</vt:lpstr>
      <vt:lpstr>Highest Level of Investment Need</vt:lpstr>
      <vt:lpstr>Service Usage Increase</vt:lpstr>
      <vt:lpstr>Investment Levels</vt:lpstr>
      <vt:lpstr>Interested in Partnering with 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Your Name</dc:creator>
  <cp:keywords>© 2020 Cengage Learning.</cp:keywords>
  <dcterms:created xsi:type="dcterms:W3CDTF">2015-11-03T06:54:33Z</dcterms:created>
  <dcterms:modified xsi:type="dcterms:W3CDTF">2018-07-16T19:18:10Z</dcterms:modified>
</cp:coreProperties>
</file>